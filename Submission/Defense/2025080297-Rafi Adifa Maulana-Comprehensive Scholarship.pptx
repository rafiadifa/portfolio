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cb5ed37-439f-e821-a872-ca4d7e1a80fc}">
          <p14:sldIdLst>
            <p14:sldId id="256"/>
            <p14:sldId id="257"/>
          </p14:sldIdLst>
        </p14:section>
        <p14:section name="Evidence" id="{0369290d-3c04-a480-3efd-8673e984e5ce}">
          <p14:sldIdLst>
            <p14:sldId id="258"/>
            <p14:sldId id="259"/>
            <p14:sldId id="260"/>
            <p14:sldId id="261"/>
          </p14:sldIdLst>
        </p14:section>
        <p14:section name="Close" id="{f78a1f63-9a51-ba4e-ea47-cd9e840b9231}">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s] Good afternoon, teachers. I'm Rafi Adifa Maulana, from Zijing Class 51, studying Urban Planning. One idea connects everything I did this year: designing bridges, between cultures, between disciplines, and between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 I'm Sundanese, from West Java, and my family comes from Kampung Naga, a traditional village that still lives the way its ancestors built it. That's where I learned that buildings carry culture, and it's why I came to Tsinghua to study planning. At Zijing I keep bringing cultures into the same room, like wearing Sundanese dress in our multicultural fashion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First, the base. My GPA is 3.735 out of 4.0. I'm 19th in Zijing College and 5th in Class 51, with no failed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s] Second, building. With my SRT team in Tenganan, Bali, we 3D-scanned the village's historic buildings to document and help preserve them. I handled much of the communication and logistics on site, and I helped organize the international conference where we shared the work. In studio I keep the same habit, design it and then build it, from an earthquake-resilient balsa structure to a live seating-map prototype for the Qingfen canteen.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Third, serving. Since 2025 I've been on the Student Association's Science and Technology Administration and Design team. I'm the main designer of Zijing's Uzbekistan deep dive, the WeChat series and now the magazine, and my Steamy design won first place as Zijing's mascot. I joined three practice programs: Guangzhou, where our team earned an A, Uzbekistan, and Tenganan. And for our fourteen Garuda scholars, I'm the person newer students come to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s] Fourth, performing. I wrote the lyrics and sang lead on "One", Zijing's first theme song, at the Student Festival in May. I danced in two festival performances, coordinated our K-pop set with C:RUSH, and our Ma Cup cheer team placed fifth with the Sportsmanship Award.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 Next, I want to keep building these bridges: publish the Uzbekistan magazine, keep guiding new Garuda scholars, and keep bringing Zijing to the stage. Terima kasih, thank you. I'm happy to take your questions.
--- Q&amp;A PREP (2 minutes; answer in 20-30 s each, then stop) ---
Q: How do you balance all of this with your studies?
Point to the numbers: 3.735 GPA, 19th in college, 5th in class, no failed courses. Then one concrete habit you really use (e.g. how you plan your week).
Q: What exactly was YOUR role in the Tenganan SRT?
On-the-ground communication and logistics (you speak Indonesian, so you were the bridge to the village), plus the scanning work itself. Then the conference, where the work was shared.
Q: You're an international student. How do you contribute to Zijing as a community, not just yourself?
Garuda group: the person 14 scholars come to first. Design work the whole college uses: Steamy, the Uzbekistan series. "One" was written for Zijing.
Q: Which achievement are you proudest of, and why?
Pick one and tell it as a short story (e.g. writing "One": why, what the lyrics say, what performing it felt like).
Q: What will you improve next year?
Be honest and specific: one area to grow (e.g. Chinese level, research depth) and a concrete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410"/>
        </a:solidFill>
      </p:bgPr>
    </p:bg>
    <p:spTree>
      <p:nvGrpSpPr>
        <p:cNvPr id="1" name=""/>
        <p:cNvGrpSpPr/>
        <p:nvPr/>
      </p:nvGrpSpPr>
      <p:grpSpPr>
        <a:xfrm>
          <a:off x="0" y="0"/>
          <a:ext cx="0" cy="0"/>
          <a:chOff x="0" y="0"/>
          <a:chExt cx="0" cy="0"/>
        </a:xfrm>
      </p:grpSpPr>
      <p:pic>
        <p:nvPicPr>
          <p:cNvPr id="2" name="Kawung batik border" descr="Decorative kawung batik border">    </p:cNvPr>
          <p:cNvPicPr>
            <a:picLocks noChangeAspect="1"/>
          </p:cNvPicPr>
          <p:nvPr/>
        </p:nvPicPr>
        <p:blipFill>
          <a:blip r:embed="rId1"/>
          <a:stretch>
            <a:fillRect/>
          </a:stretch>
        </p:blipFill>
        <p:spPr>
          <a:xfrm>
            <a:off x="0" y="0"/>
            <a:ext cx="609600" cy="6858000"/>
          </a:xfrm>
          <a:prstGeom prst="rect">
            <a:avLst/>
          </a:prstGeom>
        </p:spPr>
      </p:pic>
      <p:pic>
        <p:nvPicPr>
          <p:cNvPr id="3" name="Cover photo" descr="Rafi speaking at a meeting in Tashkent, with Uzbek and Chinese flags on the table">    </p:cNvPr>
          <p:cNvPicPr>
            <a:picLocks noChangeAspect="1"/>
          </p:cNvPicPr>
          <p:nvPr/>
        </p:nvPicPr>
        <p:blipFill>
          <a:blip r:embed="rId2"/>
          <a:stretch>
            <a:fillRect/>
          </a:stretch>
        </p:blipFill>
        <p:spPr>
          <a:xfrm>
            <a:off x="6908800" y="0"/>
            <a:ext cx="5283200" cy="6858000"/>
          </a:xfrm>
          <a:prstGeom prst="rect">
            <a:avLst/>
          </a:prstGeom>
        </p:spPr>
      </p:pic>
      <p:sp>
        <p:nvSpPr>
          <p:cNvPr id="4" name="Eyebrow"/>
          <p:cNvSpPr txBox="1"/>
          <p:nvPr/>
        </p:nvSpPr>
        <p:spPr>
          <a:xfrm>
            <a:off x="1371600" y="1498600"/>
            <a:ext cx="5715000" cy="228600"/>
          </a:xfrm>
          <a:prstGeom prst="rect">
            <a:avLst/>
          </a:prstGeom>
          <a:noFill/>
          <a:ln/>
        </p:spPr>
        <p:txBody>
          <a:bodyPr wrap="square" lIns="0" tIns="0" rIns="0" bIns="0" rtlCol="0" anchor="t"/>
          <a:lstStyle/>
          <a:p>
            <a:pPr indent="0" marL="0">
              <a:buNone/>
            </a:pPr>
            <a:r>
              <a:rPr lang="en-US" sz="1200" b="1" spc="400" kern="0" dirty="0">
                <a:solidFill>
                  <a:schemeClr val="accent1"/>
                </a:solidFill>
              </a:rPr>
              <a:t>COMPREHENSIVE EXCELLENCE AWARD</a:t>
            </a:r>
            <a:endParaRPr lang="en-US" sz="1200" dirty="0"/>
          </a:p>
        </p:txBody>
      </p:sp>
      <p:sp>
        <p:nvSpPr>
          <p:cNvPr id="5" name="Title"/>
          <p:cNvSpPr txBox="1"/>
          <p:nvPr/>
        </p:nvSpPr>
        <p:spPr>
          <a:xfrm>
            <a:off x="1371600" y="1841500"/>
            <a:ext cx="5207000" cy="1778000"/>
          </a:xfrm>
          <a:prstGeom prst="rect">
            <a:avLst/>
          </a:prstGeom>
          <a:noFill/>
          <a:ln/>
        </p:spPr>
        <p:txBody>
          <a:bodyPr wrap="square" lIns="0" tIns="0" rIns="0" bIns="0" rtlCol="0" anchor="t"/>
          <a:lstStyle/>
          <a:p>
            <a:pPr indent="0" marL="0">
              <a:lnSpc>
                <a:spcPct val="95000"/>
              </a:lnSpc>
              <a:buNone/>
            </a:pPr>
            <a:r>
              <a:rPr lang="en-US" sz="6000" b="1" dirty="0">
                <a:solidFill>
                  <a:schemeClr val="bg1"/>
                </a:solidFill>
                <a:latin typeface="+mj-lt" pitchFamily="34" charset="0"/>
                <a:ea typeface="+mj-lt" pitchFamily="34" charset="-122"/>
                <a:cs typeface="+mj-lt" pitchFamily="34" charset="-120"/>
              </a:rPr>
              <a:t>DESIGNING</a:t>
            </a:r>
            <a:endParaRPr lang="en-US" sz="6000" dirty="0"/>
          </a:p>
          <a:p>
            <a:pPr indent="0" marL="0">
              <a:lnSpc>
                <a:spcPct val="95000"/>
              </a:lnSpc>
              <a:buNone/>
            </a:pPr>
            <a:r>
              <a:rPr lang="en-US" sz="6000" b="1" dirty="0">
                <a:solidFill>
                  <a:schemeClr val="bg1"/>
                </a:solidFill>
                <a:latin typeface="+mj-lt" pitchFamily="34" charset="0"/>
                <a:ea typeface="+mj-lt" pitchFamily="34" charset="-122"/>
                <a:cs typeface="+mj-lt" pitchFamily="34" charset="-120"/>
              </a:rPr>
              <a:t>BRIDGES</a:t>
            </a:r>
            <a:endParaRPr lang="en-US" sz="6000" dirty="0"/>
          </a:p>
        </p:txBody>
      </p:sp>
      <p:sp>
        <p:nvSpPr>
          <p:cNvPr id="6" name="Tagline"/>
          <p:cNvSpPr txBox="1"/>
          <p:nvPr/>
        </p:nvSpPr>
        <p:spPr>
          <a:xfrm>
            <a:off x="1371600" y="3721100"/>
            <a:ext cx="5207000" cy="317500"/>
          </a:xfrm>
          <a:prstGeom prst="rect">
            <a:avLst/>
          </a:prstGeom>
          <a:noFill/>
          <a:ln/>
        </p:spPr>
        <p:txBody>
          <a:bodyPr wrap="square" lIns="0" tIns="0" rIns="0" bIns="0" rtlCol="0" anchor="t"/>
          <a:lstStyle/>
          <a:p>
            <a:pPr indent="0" marL="0">
              <a:buNone/>
            </a:pPr>
            <a:r>
              <a:rPr lang="en-US" sz="2000" i="1" dirty="0">
                <a:solidFill>
                  <a:schemeClr val="accent4"/>
                </a:solidFill>
              </a:rPr>
              <a:t>between cultures, disciplines and people</a:t>
            </a:r>
            <a:endParaRPr lang="en-US" sz="2000" dirty="0"/>
          </a:p>
        </p:txBody>
      </p:sp>
      <p:sp>
        <p:nvSpPr>
          <p:cNvPr id="7" name="Name"/>
          <p:cNvSpPr txBox="1"/>
          <p:nvPr/>
        </p:nvSpPr>
        <p:spPr>
          <a:xfrm>
            <a:off x="1371600" y="4445000"/>
            <a:ext cx="5207000" cy="444500"/>
          </a:xfrm>
          <a:prstGeom prst="rect">
            <a:avLst/>
          </a:prstGeom>
          <a:noFill/>
          <a:ln/>
        </p:spPr>
        <p:txBody>
          <a:bodyPr wrap="square" lIns="0" tIns="0" rIns="0" bIns="0" rtlCol="0" anchor="t"/>
          <a:lstStyle/>
          <a:p>
            <a:pPr indent="0" marL="0">
              <a:buNone/>
            </a:pPr>
            <a:r>
              <a:rPr lang="en-US" sz="2800" b="1" dirty="0">
                <a:solidFill>
                  <a:schemeClr val="bg1"/>
                </a:solidFill>
                <a:latin typeface="+mj-lt" pitchFamily="34" charset="0"/>
                <a:ea typeface="+mj-lt" pitchFamily="34" charset="-122"/>
                <a:cs typeface="+mj-lt" pitchFamily="34" charset="-120"/>
              </a:rPr>
              <a:t>Rafi Adifa Maulana</a:t>
            </a:r>
            <a:endParaRPr lang="en-US" sz="2800" dirty="0"/>
          </a:p>
        </p:txBody>
      </p:sp>
      <p:sp>
        <p:nvSpPr>
          <p:cNvPr id="8" name="Details"/>
          <p:cNvSpPr txBox="1"/>
          <p:nvPr/>
        </p:nvSpPr>
        <p:spPr>
          <a:xfrm>
            <a:off x="1371600" y="4927600"/>
            <a:ext cx="5207000" cy="254000"/>
          </a:xfrm>
          <a:prstGeom prst="rect">
            <a:avLst/>
          </a:prstGeom>
          <a:noFill/>
          <a:ln/>
        </p:spPr>
        <p:txBody>
          <a:bodyPr wrap="square" lIns="0" tIns="0" rIns="0" bIns="0" rtlCol="0" anchor="t"/>
          <a:lstStyle/>
          <a:p>
            <a:pPr indent="0" marL="0">
              <a:buNone/>
            </a:pPr>
            <a:r>
              <a:rPr lang="en-US" sz="1500" dirty="0">
                <a:solidFill>
                  <a:schemeClr val="accent5"/>
                </a:solidFill>
              </a:rPr>
              <a:t>Zijing College  ·  Class 51  ·  Urban Planning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410"/>
        </a:solidFill>
      </p:bgPr>
    </p:bg>
    <p:spTree>
      <p:nvGrpSpPr>
        <p:cNvPr id="1" name=""/>
        <p:cNvGrpSpPr/>
        <p:nvPr/>
      </p:nvGrpSpPr>
      <p:grpSpPr>
        <a:xfrm>
          <a:off x="0" y="0"/>
          <a:ext cx="0" cy="0"/>
          <a:chOff x="0" y="0"/>
          <a:chExt cx="0" cy="0"/>
        </a:xfrm>
      </p:grpSpPr>
      <p:pic>
        <p:nvPicPr>
          <p:cNvPr id="2" name="Roots photo" descr="Multicultural fashion show at Zijing, with students in traditional Sundanese and other cultural dress">    </p:cNvPr>
          <p:cNvPicPr>
            <a:picLocks noChangeAspect="1"/>
          </p:cNvPicPr>
          <p:nvPr/>
        </p:nvPicPr>
        <p:blipFill>
          <a:blip r:embed="rId1"/>
          <a:stretch>
            <a:fillRect/>
          </a:stretch>
        </p:blipFill>
        <p:spPr>
          <a:xfrm>
            <a:off x="0" y="0"/>
            <a:ext cx="12192000" cy="6858000"/>
          </a:xfrm>
          <a:prstGeom prst="rect">
            <a:avLst/>
          </a:prstGeom>
        </p:spPr>
      </p:pic>
      <p:pic>
        <p:nvPicPr>
          <p:cNvPr id="3" name="Scrim" descr="Decorative shading over photo">    </p:cNvPr>
          <p:cNvPicPr>
            <a:picLocks noChangeAspect="1"/>
          </p:cNvPicPr>
          <p:nvPr/>
        </p:nvPicPr>
        <p:blipFill>
          <a:blip r:embed="rId2"/>
          <a:stretch>
            <a:fillRect/>
          </a:stretch>
        </p:blipFill>
        <p:spPr>
          <a:xfrm>
            <a:off x="0" y="0"/>
            <a:ext cx="12192000" cy="6858000"/>
          </a:xfrm>
          <a:prstGeom prst="rect">
            <a:avLst/>
          </a:prstGeom>
        </p:spPr>
      </p:pic>
      <p:sp>
        <p:nvSpPr>
          <p:cNvPr id="4" name="Eyebrow"/>
          <p:cNvSpPr txBox="1"/>
          <p:nvPr/>
        </p:nvSpPr>
        <p:spPr>
          <a:xfrm>
            <a:off x="812800" y="2984500"/>
            <a:ext cx="5715000" cy="228600"/>
          </a:xfrm>
          <a:prstGeom prst="rect">
            <a:avLst/>
          </a:prstGeom>
          <a:noFill/>
          <a:ln/>
        </p:spPr>
        <p:txBody>
          <a:bodyPr wrap="square" lIns="0" tIns="0" rIns="0" bIns="0" rtlCol="0" anchor="t"/>
          <a:lstStyle/>
          <a:p>
            <a:pPr indent="0" marL="0">
              <a:buNone/>
            </a:pPr>
            <a:r>
              <a:rPr lang="en-US" sz="1200" b="1" spc="400" kern="0" dirty="0">
                <a:solidFill>
                  <a:schemeClr val="accent1"/>
                </a:solidFill>
              </a:rPr>
              <a:t>01  ·  ROOTS</a:t>
            </a:r>
            <a:endParaRPr lang="en-US" sz="1200" dirty="0"/>
          </a:p>
        </p:txBody>
      </p:sp>
      <p:sp>
        <p:nvSpPr>
          <p:cNvPr id="5" name="Title"/>
          <p:cNvSpPr txBox="1"/>
          <p:nvPr/>
        </p:nvSpPr>
        <p:spPr>
          <a:xfrm>
            <a:off x="812800" y="3276600"/>
            <a:ext cx="5207000" cy="1460500"/>
          </a:xfrm>
          <a:prstGeom prst="rect">
            <a:avLst/>
          </a:prstGeom>
          <a:noFill/>
          <a:ln/>
        </p:spPr>
        <p:txBody>
          <a:bodyPr wrap="square" lIns="0" tIns="0" rIns="0" bIns="0" rtlCol="0" anchor="t"/>
          <a:lstStyle/>
          <a:p>
            <a:pPr indent="0" marL="0">
              <a:lnSpc>
                <a:spcPct val="95000"/>
              </a:lnSpc>
              <a:buNone/>
            </a:pPr>
            <a:r>
              <a:rPr lang="en-US" sz="4800" b="1" dirty="0">
                <a:solidFill>
                  <a:schemeClr val="bg1"/>
                </a:solidFill>
                <a:latin typeface="+mj-lt" pitchFamily="34" charset="0"/>
                <a:ea typeface="+mj-lt" pitchFamily="34" charset="-122"/>
                <a:cs typeface="+mj-lt" pitchFamily="34" charset="-120"/>
              </a:rPr>
              <a:t>From Kampung Naga to Tsinghua</a:t>
            </a:r>
            <a:endParaRPr lang="en-US" sz="4800" dirty="0"/>
          </a:p>
        </p:txBody>
      </p:sp>
      <p:sp>
        <p:nvSpPr>
          <p:cNvPr id="6" name="Body"/>
          <p:cNvSpPr txBox="1"/>
          <p:nvPr/>
        </p:nvSpPr>
        <p:spPr>
          <a:xfrm>
            <a:off x="812800" y="4826000"/>
            <a:ext cx="4953000" cy="571500"/>
          </a:xfrm>
          <a:prstGeom prst="rect">
            <a:avLst/>
          </a:prstGeom>
          <a:noFill/>
          <a:ln/>
        </p:spPr>
        <p:txBody>
          <a:bodyPr wrap="square" lIns="0" tIns="0" rIns="0" bIns="0" rtlCol="0" anchor="t"/>
          <a:lstStyle/>
          <a:p>
            <a:pPr indent="0" marL="0">
              <a:buNone/>
            </a:pPr>
            <a:r>
              <a:rPr lang="en-US" sz="1600" dirty="0">
                <a:solidFill>
                  <a:schemeClr val="accent4"/>
                </a:solidFill>
              </a:rPr>
              <a:t>Sundanese, from West Java, Indonesia. Now studying Urban Planning at Zijing College.</a:t>
            </a:r>
            <a:endParaRPr lang="en-US" sz="1600" dirty="0"/>
          </a:p>
        </p:txBody>
      </p:sp>
      <p:sp>
        <p:nvSpPr>
          <p:cNvPr id="7" name="Caption"/>
          <p:cNvSpPr/>
          <p:nvPr/>
        </p:nvSpPr>
        <p:spPr>
          <a:xfrm>
            <a:off x="6807200" y="6096000"/>
            <a:ext cx="4572000" cy="355600"/>
          </a:xfrm>
          <a:prstGeom prst="roundRect">
            <a:avLst>
              <a:gd name="adj" fmla="val 41143"/>
            </a:avLst>
          </a:prstGeom>
          <a:solidFill>
            <a:srgbClr val="1A1410">
              <a:alpha val="92000"/>
            </a:srgbClr>
          </a:solidFill>
          <a:ln/>
        </p:spPr>
        <p:txBody>
          <a:bodyPr wrap="square" lIns="114300" tIns="114300" rIns="114300" bIns="114300" rtlCol="0" anchor="ctr"/>
          <a:lstStyle/>
          <a:p>
            <a:pPr algn="l" indent="0" marL="0">
              <a:buNone/>
            </a:pPr>
            <a:r>
              <a:rPr lang="en-US" sz="1200" dirty="0">
                <a:solidFill>
                  <a:schemeClr val="bg1"/>
                </a:solidFill>
              </a:rPr>
              <a:t>Sundanese dress at the Zijing multicultural fashion show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8B4A1F"/>
        </a:solidFill>
      </p:bgPr>
    </p:bg>
    <p:spTree>
      <p:nvGrpSpPr>
        <p:cNvPr id="1" name=""/>
        <p:cNvGrpSpPr/>
        <p:nvPr/>
      </p:nvGrpSpPr>
      <p:grpSpPr>
        <a:xfrm>
          <a:off x="0" y="0"/>
          <a:ext cx="0" cy="0"/>
          <a:chOff x="0" y="0"/>
          <a:chExt cx="0" cy="0"/>
        </a:xfrm>
      </p:grpSpPr>
      <p:pic>
        <p:nvPicPr>
          <p:cNvPr id="2" name="Kawung batik border" descr="Decorative kawung batik border">    </p:cNvPr>
          <p:cNvPicPr>
            <a:picLocks noChangeAspect="1"/>
          </p:cNvPicPr>
          <p:nvPr/>
        </p:nvPicPr>
        <p:blipFill>
          <a:blip r:embed="rId1"/>
          <a:stretch>
            <a:fillRect/>
          </a:stretch>
        </p:blipFill>
        <p:spPr>
          <a:xfrm>
            <a:off x="11582400" y="0"/>
            <a:ext cx="609600" cy="6858000"/>
          </a:xfrm>
          <a:prstGeom prst="rect">
            <a:avLst/>
          </a:prstGeom>
        </p:spPr>
      </p:pic>
      <p:sp>
        <p:nvSpPr>
          <p:cNvPr id="3" name="Eyebrow"/>
          <p:cNvSpPr txBox="1"/>
          <p:nvPr/>
        </p:nvSpPr>
        <p:spPr>
          <a:xfrm>
            <a:off x="812800" y="1841500"/>
            <a:ext cx="5715000" cy="228600"/>
          </a:xfrm>
          <a:prstGeom prst="rect">
            <a:avLst/>
          </a:prstGeom>
          <a:noFill/>
          <a:ln/>
        </p:spPr>
        <p:txBody>
          <a:bodyPr wrap="square" lIns="0" tIns="0" rIns="0" bIns="0" rtlCol="0" anchor="t"/>
          <a:lstStyle/>
          <a:p>
            <a:pPr indent="0" marL="0">
              <a:buNone/>
            </a:pPr>
            <a:r>
              <a:rPr lang="en-US" sz="1200" b="1" spc="400" kern="0" dirty="0">
                <a:solidFill>
                  <a:schemeClr val="bg2"/>
                </a:solidFill>
              </a:rPr>
              <a:t>02  ·  LEARN</a:t>
            </a:r>
            <a:endParaRPr lang="en-US" sz="1200" dirty="0"/>
          </a:p>
        </p:txBody>
      </p:sp>
      <p:sp>
        <p:nvSpPr>
          <p:cNvPr id="4" name="Title"/>
          <p:cNvSpPr txBox="1"/>
          <p:nvPr/>
        </p:nvSpPr>
        <p:spPr>
          <a:xfrm>
            <a:off x="812800" y="2133600"/>
            <a:ext cx="9525000" cy="698500"/>
          </a:xfrm>
          <a:prstGeom prst="rect">
            <a:avLst/>
          </a:prstGeom>
          <a:noFill/>
          <a:ln/>
        </p:spPr>
        <p:txBody>
          <a:bodyPr wrap="square" lIns="0" tIns="0" rIns="0" bIns="0" rtlCol="0" anchor="t"/>
          <a:lstStyle/>
          <a:p>
            <a:pPr indent="0" marL="0">
              <a:buNone/>
            </a:pPr>
            <a:r>
              <a:rPr lang="en-US" sz="4400" b="1" dirty="0">
                <a:solidFill>
                  <a:schemeClr val="bg1"/>
                </a:solidFill>
                <a:latin typeface="+mj-lt" pitchFamily="34" charset="0"/>
                <a:ea typeface="+mj-lt" pitchFamily="34" charset="-122"/>
                <a:cs typeface="+mj-lt" pitchFamily="34" charset="-120"/>
              </a:rPr>
              <a:t>A solid academic base</a:t>
            </a:r>
            <a:endParaRPr lang="en-US" sz="4400" dirty="0"/>
          </a:p>
        </p:txBody>
      </p:sp>
      <p:sp>
        <p:nvSpPr>
          <p:cNvPr id="5" name="Stat card 1"/>
          <p:cNvSpPr/>
          <p:nvPr/>
        </p:nvSpPr>
        <p:spPr>
          <a:xfrm>
            <a:off x="812800" y="3619500"/>
            <a:ext cx="2438400" cy="1905000"/>
          </a:xfrm>
          <a:prstGeom prst="rect">
            <a:avLst/>
          </a:prstGeom>
          <a:solidFill>
            <a:srgbClr val="2A1F17">
              <a:alpha val="30000"/>
            </a:srgbClr>
          </a:solidFill>
          <a:ln/>
        </p:spPr>
      </p:sp>
      <p:sp>
        <p:nvSpPr>
          <p:cNvPr id="6" name="Stat 1"/>
          <p:cNvSpPr txBox="1"/>
          <p:nvPr/>
        </p:nvSpPr>
        <p:spPr>
          <a:xfrm>
            <a:off x="1016000" y="3873500"/>
            <a:ext cx="2159000" cy="1016000"/>
          </a:xfrm>
          <a:prstGeom prst="rect">
            <a:avLst/>
          </a:prstGeom>
          <a:noFill/>
          <a:ln/>
        </p:spPr>
        <p:txBody>
          <a:bodyPr wrap="square" lIns="0" tIns="0" rIns="0" bIns="0" rtlCol="0" anchor="t"/>
          <a:lstStyle/>
          <a:p>
            <a:pPr indent="0" marL="0">
              <a:buNone/>
            </a:pPr>
            <a:r>
              <a:rPr lang="en-US" sz="6400" b="1" dirty="0">
                <a:solidFill>
                  <a:schemeClr val="bg1"/>
                </a:solidFill>
                <a:latin typeface="+mj-lt" pitchFamily="34" charset="0"/>
                <a:ea typeface="+mj-lt" pitchFamily="34" charset="-122"/>
                <a:cs typeface="+mj-lt" pitchFamily="34" charset="-120"/>
              </a:rPr>
              <a:t>3.735</a:t>
            </a:r>
            <a:endParaRPr lang="en-US" sz="6400" dirty="0"/>
          </a:p>
        </p:txBody>
      </p:sp>
      <p:sp>
        <p:nvSpPr>
          <p:cNvPr id="7" name="Stat label 1"/>
          <p:cNvSpPr txBox="1"/>
          <p:nvPr/>
        </p:nvSpPr>
        <p:spPr>
          <a:xfrm>
            <a:off x="1016000" y="5016500"/>
            <a:ext cx="2159000" cy="317500"/>
          </a:xfrm>
          <a:prstGeom prst="rect">
            <a:avLst/>
          </a:prstGeom>
          <a:noFill/>
          <a:ln/>
        </p:spPr>
        <p:txBody>
          <a:bodyPr wrap="square" lIns="0" tIns="0" rIns="0" bIns="0" rtlCol="0" anchor="t"/>
          <a:lstStyle/>
          <a:p>
            <a:pPr indent="0" marL="0">
              <a:buNone/>
            </a:pPr>
            <a:r>
              <a:rPr lang="en-US" sz="1600" dirty="0">
                <a:solidFill>
                  <a:schemeClr val="bg2"/>
                </a:solidFill>
              </a:rPr>
              <a:t>GPA out of 4.0</a:t>
            </a:r>
            <a:endParaRPr lang="en-US" sz="1600" dirty="0"/>
          </a:p>
        </p:txBody>
      </p:sp>
      <p:sp>
        <p:nvSpPr>
          <p:cNvPr id="8" name="Stat card 2"/>
          <p:cNvSpPr/>
          <p:nvPr/>
        </p:nvSpPr>
        <p:spPr>
          <a:xfrm>
            <a:off x="3454400" y="3619500"/>
            <a:ext cx="2438400" cy="1905000"/>
          </a:xfrm>
          <a:prstGeom prst="rect">
            <a:avLst/>
          </a:prstGeom>
          <a:solidFill>
            <a:srgbClr val="2A1F17">
              <a:alpha val="30000"/>
            </a:srgbClr>
          </a:solidFill>
          <a:ln/>
        </p:spPr>
      </p:sp>
      <p:sp>
        <p:nvSpPr>
          <p:cNvPr id="9" name="Stat 2"/>
          <p:cNvSpPr txBox="1"/>
          <p:nvPr/>
        </p:nvSpPr>
        <p:spPr>
          <a:xfrm>
            <a:off x="3657600" y="3873500"/>
            <a:ext cx="2159000" cy="1016000"/>
          </a:xfrm>
          <a:prstGeom prst="rect">
            <a:avLst/>
          </a:prstGeom>
          <a:noFill/>
          <a:ln/>
        </p:spPr>
        <p:txBody>
          <a:bodyPr wrap="square" lIns="0" tIns="0" rIns="0" bIns="0" rtlCol="0" anchor="t"/>
          <a:lstStyle/>
          <a:p>
            <a:pPr indent="0" marL="0">
              <a:buNone/>
            </a:pPr>
            <a:r>
              <a:rPr lang="en-US" sz="6400" b="1" dirty="0">
                <a:solidFill>
                  <a:schemeClr val="bg1"/>
                </a:solidFill>
                <a:latin typeface="+mj-lt" pitchFamily="34" charset="0"/>
                <a:ea typeface="+mj-lt" pitchFamily="34" charset="-122"/>
                <a:cs typeface="+mj-lt" pitchFamily="34" charset="-120"/>
              </a:rPr>
              <a:t>19th</a:t>
            </a:r>
            <a:endParaRPr lang="en-US" sz="6400" dirty="0"/>
          </a:p>
        </p:txBody>
      </p:sp>
      <p:sp>
        <p:nvSpPr>
          <p:cNvPr id="10" name="Stat label 2"/>
          <p:cNvSpPr txBox="1"/>
          <p:nvPr/>
        </p:nvSpPr>
        <p:spPr>
          <a:xfrm>
            <a:off x="3657600" y="5016500"/>
            <a:ext cx="2159000" cy="317500"/>
          </a:xfrm>
          <a:prstGeom prst="rect">
            <a:avLst/>
          </a:prstGeom>
          <a:noFill/>
          <a:ln/>
        </p:spPr>
        <p:txBody>
          <a:bodyPr wrap="square" lIns="0" tIns="0" rIns="0" bIns="0" rtlCol="0" anchor="t"/>
          <a:lstStyle/>
          <a:p>
            <a:pPr indent="0" marL="0">
              <a:buNone/>
            </a:pPr>
            <a:r>
              <a:rPr lang="en-US" sz="1600" dirty="0">
                <a:solidFill>
                  <a:schemeClr val="bg2"/>
                </a:solidFill>
              </a:rPr>
              <a:t>in Zijing College</a:t>
            </a:r>
            <a:endParaRPr lang="en-US" sz="1600" dirty="0"/>
          </a:p>
        </p:txBody>
      </p:sp>
      <p:sp>
        <p:nvSpPr>
          <p:cNvPr id="11" name="Stat card 3"/>
          <p:cNvSpPr/>
          <p:nvPr/>
        </p:nvSpPr>
        <p:spPr>
          <a:xfrm>
            <a:off x="6096000" y="3619500"/>
            <a:ext cx="2438400" cy="1905000"/>
          </a:xfrm>
          <a:prstGeom prst="rect">
            <a:avLst/>
          </a:prstGeom>
          <a:solidFill>
            <a:srgbClr val="2A1F17">
              <a:alpha val="30000"/>
            </a:srgbClr>
          </a:solidFill>
          <a:ln/>
        </p:spPr>
      </p:sp>
      <p:sp>
        <p:nvSpPr>
          <p:cNvPr id="12" name="Stat 3"/>
          <p:cNvSpPr txBox="1"/>
          <p:nvPr/>
        </p:nvSpPr>
        <p:spPr>
          <a:xfrm>
            <a:off x="6299200" y="3873500"/>
            <a:ext cx="2159000" cy="1016000"/>
          </a:xfrm>
          <a:prstGeom prst="rect">
            <a:avLst/>
          </a:prstGeom>
          <a:noFill/>
          <a:ln/>
        </p:spPr>
        <p:txBody>
          <a:bodyPr wrap="square" lIns="0" tIns="0" rIns="0" bIns="0" rtlCol="0" anchor="t"/>
          <a:lstStyle/>
          <a:p>
            <a:pPr indent="0" marL="0">
              <a:buNone/>
            </a:pPr>
            <a:r>
              <a:rPr lang="en-US" sz="6400" b="1" dirty="0">
                <a:solidFill>
                  <a:schemeClr val="bg1"/>
                </a:solidFill>
                <a:latin typeface="+mj-lt" pitchFamily="34" charset="0"/>
                <a:ea typeface="+mj-lt" pitchFamily="34" charset="-122"/>
                <a:cs typeface="+mj-lt" pitchFamily="34" charset="-120"/>
              </a:rPr>
              <a:t>5th</a:t>
            </a:r>
            <a:endParaRPr lang="en-US" sz="6400" dirty="0"/>
          </a:p>
        </p:txBody>
      </p:sp>
      <p:sp>
        <p:nvSpPr>
          <p:cNvPr id="13" name="Stat label 3"/>
          <p:cNvSpPr txBox="1"/>
          <p:nvPr/>
        </p:nvSpPr>
        <p:spPr>
          <a:xfrm>
            <a:off x="6299200" y="5016500"/>
            <a:ext cx="2159000" cy="317500"/>
          </a:xfrm>
          <a:prstGeom prst="rect">
            <a:avLst/>
          </a:prstGeom>
          <a:noFill/>
          <a:ln/>
        </p:spPr>
        <p:txBody>
          <a:bodyPr wrap="square" lIns="0" tIns="0" rIns="0" bIns="0" rtlCol="0" anchor="t"/>
          <a:lstStyle/>
          <a:p>
            <a:pPr indent="0" marL="0">
              <a:buNone/>
            </a:pPr>
            <a:r>
              <a:rPr lang="en-US" sz="1600" dirty="0">
                <a:solidFill>
                  <a:schemeClr val="bg2"/>
                </a:solidFill>
              </a:rPr>
              <a:t>in Class 51</a:t>
            </a:r>
            <a:endParaRPr lang="en-US" sz="1600" dirty="0"/>
          </a:p>
        </p:txBody>
      </p:sp>
      <p:sp>
        <p:nvSpPr>
          <p:cNvPr id="14" name="Stat card 4"/>
          <p:cNvSpPr/>
          <p:nvPr/>
        </p:nvSpPr>
        <p:spPr>
          <a:xfrm>
            <a:off x="8737600" y="3619500"/>
            <a:ext cx="2438400" cy="1905000"/>
          </a:xfrm>
          <a:prstGeom prst="rect">
            <a:avLst/>
          </a:prstGeom>
          <a:solidFill>
            <a:srgbClr val="2A1F17">
              <a:alpha val="30000"/>
            </a:srgbClr>
          </a:solidFill>
          <a:ln/>
        </p:spPr>
      </p:sp>
      <p:sp>
        <p:nvSpPr>
          <p:cNvPr id="15" name="Stat 4"/>
          <p:cNvSpPr txBox="1"/>
          <p:nvPr/>
        </p:nvSpPr>
        <p:spPr>
          <a:xfrm>
            <a:off x="8940800" y="3873500"/>
            <a:ext cx="2159000" cy="1016000"/>
          </a:xfrm>
          <a:prstGeom prst="rect">
            <a:avLst/>
          </a:prstGeom>
          <a:noFill/>
          <a:ln/>
        </p:spPr>
        <p:txBody>
          <a:bodyPr wrap="square" lIns="0" tIns="0" rIns="0" bIns="0" rtlCol="0" anchor="t"/>
          <a:lstStyle/>
          <a:p>
            <a:pPr indent="0" marL="0">
              <a:buNone/>
            </a:pPr>
            <a:r>
              <a:rPr lang="en-US" sz="6400" b="1" dirty="0">
                <a:solidFill>
                  <a:schemeClr val="bg1"/>
                </a:solidFill>
                <a:latin typeface="+mj-lt" pitchFamily="34" charset="0"/>
                <a:ea typeface="+mj-lt" pitchFamily="34" charset="-122"/>
                <a:cs typeface="+mj-lt" pitchFamily="34" charset="-120"/>
              </a:rPr>
              <a:t>0</a:t>
            </a:r>
            <a:endParaRPr lang="en-US" sz="6400" dirty="0"/>
          </a:p>
        </p:txBody>
      </p:sp>
      <p:sp>
        <p:nvSpPr>
          <p:cNvPr id="16" name="Stat label 4"/>
          <p:cNvSpPr txBox="1"/>
          <p:nvPr/>
        </p:nvSpPr>
        <p:spPr>
          <a:xfrm>
            <a:off x="8940800" y="5016500"/>
            <a:ext cx="2159000" cy="317500"/>
          </a:xfrm>
          <a:prstGeom prst="rect">
            <a:avLst/>
          </a:prstGeom>
          <a:noFill/>
          <a:ln/>
        </p:spPr>
        <p:txBody>
          <a:bodyPr wrap="square" lIns="0" tIns="0" rIns="0" bIns="0" rtlCol="0" anchor="t"/>
          <a:lstStyle/>
          <a:p>
            <a:pPr indent="0" marL="0">
              <a:buNone/>
            </a:pPr>
            <a:r>
              <a:rPr lang="en-US" sz="1600" dirty="0">
                <a:solidFill>
                  <a:schemeClr val="bg2"/>
                </a:solidFill>
              </a:rPr>
              <a:t>failed courses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410"/>
        </a:solidFill>
      </p:bgPr>
    </p:bg>
    <p:spTree>
      <p:nvGrpSpPr>
        <p:cNvPr id="1" name=""/>
        <p:cNvGrpSpPr/>
        <p:nvPr/>
      </p:nvGrpSpPr>
      <p:grpSpPr>
        <a:xfrm>
          <a:off x="0" y="0"/>
          <a:ext cx="0" cy="0"/>
          <a:chOff x="0" y="0"/>
          <a:chExt cx="0" cy="0"/>
        </a:xfrm>
      </p:grpSpPr>
      <p:pic>
        <p:nvPicPr>
          <p:cNvPr id="2" name="Scanner photo" descr="The 3D scanner set up in front of a traditional building in Tenganan village, Bali">    </p:cNvPr>
          <p:cNvPicPr>
            <a:picLocks noChangeAspect="1"/>
          </p:cNvPicPr>
          <p:nvPr/>
        </p:nvPicPr>
        <p:blipFill>
          <a:blip r:embed="rId1"/>
          <a:stretch>
            <a:fillRect/>
          </a:stretch>
        </p:blipFill>
        <p:spPr>
          <a:xfrm>
            <a:off x="0" y="0"/>
            <a:ext cx="6350000" cy="6858000"/>
          </a:xfrm>
          <a:prstGeom prst="rect">
            <a:avLst/>
          </a:prstGeom>
        </p:spPr>
      </p:pic>
      <p:sp>
        <p:nvSpPr>
          <p:cNvPr id="3" name="Photo caption"/>
          <p:cNvSpPr/>
          <p:nvPr/>
        </p:nvSpPr>
        <p:spPr>
          <a:xfrm>
            <a:off x="304800" y="6096000"/>
            <a:ext cx="3048000" cy="355600"/>
          </a:xfrm>
          <a:prstGeom prst="roundRect">
            <a:avLst>
              <a:gd name="adj" fmla="val 41143"/>
            </a:avLst>
          </a:prstGeom>
          <a:solidFill>
            <a:srgbClr val="1A1410">
              <a:alpha val="92000"/>
            </a:srgbClr>
          </a:solidFill>
          <a:ln/>
        </p:spPr>
        <p:txBody>
          <a:bodyPr wrap="square" lIns="114300" tIns="114300" rIns="114300" bIns="114300" rtlCol="0" anchor="ctr"/>
          <a:lstStyle/>
          <a:p>
            <a:pPr algn="l" indent="0" marL="0">
              <a:buNone/>
            </a:pPr>
            <a:r>
              <a:rPr lang="en-US" sz="1200" dirty="0">
                <a:solidFill>
                  <a:schemeClr val="bg1"/>
                </a:solidFill>
              </a:rPr>
              <a:t>SRT  ·  3D scanner in action, Tenganan, Bali</a:t>
            </a:r>
            <a:endParaRPr lang="en-US" sz="1200" dirty="0"/>
          </a:p>
        </p:txBody>
      </p:sp>
      <p:sp>
        <p:nvSpPr>
          <p:cNvPr id="4" name="Eyebrow"/>
          <p:cNvSpPr txBox="1"/>
          <p:nvPr/>
        </p:nvSpPr>
        <p:spPr>
          <a:xfrm>
            <a:off x="6908800" y="952500"/>
            <a:ext cx="5715000" cy="228600"/>
          </a:xfrm>
          <a:prstGeom prst="rect">
            <a:avLst/>
          </a:prstGeom>
          <a:noFill/>
          <a:ln/>
        </p:spPr>
        <p:txBody>
          <a:bodyPr wrap="square" lIns="0" tIns="0" rIns="0" bIns="0" rtlCol="0" anchor="t"/>
          <a:lstStyle/>
          <a:p>
            <a:pPr indent="0" marL="0">
              <a:buNone/>
            </a:pPr>
            <a:r>
              <a:rPr lang="en-US" sz="1200" b="1" spc="400" kern="0" dirty="0">
                <a:solidFill>
                  <a:schemeClr val="accent1"/>
                </a:solidFill>
              </a:rPr>
              <a:t>03  ·  BUILD</a:t>
            </a:r>
            <a:endParaRPr lang="en-US" sz="1200" dirty="0"/>
          </a:p>
        </p:txBody>
      </p:sp>
      <p:sp>
        <p:nvSpPr>
          <p:cNvPr id="5" name="Title"/>
          <p:cNvSpPr txBox="1"/>
          <p:nvPr/>
        </p:nvSpPr>
        <p:spPr>
          <a:xfrm>
            <a:off x="6908800" y="1244600"/>
            <a:ext cx="4470400" cy="1079500"/>
          </a:xfrm>
          <a:prstGeom prst="rect">
            <a:avLst/>
          </a:prstGeom>
          <a:noFill/>
          <a:ln/>
        </p:spPr>
        <p:txBody>
          <a:bodyPr wrap="square" lIns="0" tIns="0" rIns="0" bIns="0" rtlCol="0" anchor="t"/>
          <a:lstStyle/>
          <a:p>
            <a:pPr indent="0" marL="0">
              <a:buNone/>
            </a:pPr>
            <a:r>
              <a:rPr lang="en-US" sz="3200" b="1" dirty="0">
                <a:solidFill>
                  <a:schemeClr val="bg1"/>
                </a:solidFill>
                <a:latin typeface="+mj-lt" pitchFamily="34" charset="0"/>
                <a:ea typeface="+mj-lt" pitchFamily="34" charset="-122"/>
                <a:cs typeface="+mj-lt" pitchFamily="34" charset="-120"/>
              </a:rPr>
              <a:t>Scanning heritage, then sharing it</a:t>
            </a:r>
            <a:endParaRPr lang="en-US" sz="3200" dirty="0"/>
          </a:p>
        </p:txBody>
      </p:sp>
      <p:sp>
        <p:nvSpPr>
          <p:cNvPr id="6" name="Body"/>
          <p:cNvSpPr txBox="1"/>
          <p:nvPr/>
        </p:nvSpPr>
        <p:spPr>
          <a:xfrm>
            <a:off x="6908800" y="2400300"/>
            <a:ext cx="4470400" cy="571500"/>
          </a:xfrm>
          <a:prstGeom prst="rect">
            <a:avLst/>
          </a:prstGeom>
          <a:noFill/>
          <a:ln/>
        </p:spPr>
        <p:txBody>
          <a:bodyPr wrap="square" lIns="0" tIns="0" rIns="0" bIns="0" rtlCol="0" anchor="t"/>
          <a:lstStyle/>
          <a:p>
            <a:pPr indent="0" marL="0">
              <a:buNone/>
            </a:pPr>
            <a:r>
              <a:rPr lang="en-US" sz="1500" dirty="0">
                <a:solidFill>
                  <a:schemeClr val="accent4"/>
                </a:solidFill>
              </a:rPr>
              <a:t>Our SRT team 3D-scanned Tenganan's historic buildings to document and help preserve them.</a:t>
            </a:r>
            <a:endParaRPr lang="en-US" sz="1500" dirty="0"/>
          </a:p>
        </p:txBody>
      </p:sp>
      <p:pic>
        <p:nvPicPr>
          <p:cNvPr id="7" name="Village photo" descr="The SRT team in Tenganan village with local residents">    </p:cNvPr>
          <p:cNvPicPr>
            <a:picLocks noChangeAspect="1"/>
          </p:cNvPicPr>
          <p:nvPr/>
        </p:nvPicPr>
        <p:blipFill>
          <a:blip r:embed="rId2"/>
          <a:stretch>
            <a:fillRect/>
          </a:stretch>
        </p:blipFill>
        <p:spPr>
          <a:xfrm>
            <a:off x="6908800" y="3098800"/>
            <a:ext cx="2159000" cy="1460500"/>
          </a:xfrm>
          <a:prstGeom prst="rect">
            <a:avLst/>
          </a:prstGeom>
        </p:spPr>
      </p:pic>
      <p:pic>
        <p:nvPicPr>
          <p:cNvPr id="8" name="Conference photo" descr="Rafi with speakers at the international conference">    </p:cNvPr>
          <p:cNvPicPr>
            <a:picLocks noChangeAspect="1"/>
          </p:cNvPicPr>
          <p:nvPr/>
        </p:nvPicPr>
        <p:blipFill>
          <a:blip r:embed="rId3"/>
          <a:stretch>
            <a:fillRect/>
          </a:stretch>
        </p:blipFill>
        <p:spPr>
          <a:xfrm>
            <a:off x="9220200" y="3098800"/>
            <a:ext cx="2159000" cy="1460500"/>
          </a:xfrm>
          <a:prstGeom prst="rect">
            <a:avLst/>
          </a:prstGeom>
        </p:spPr>
      </p:pic>
      <p:sp>
        <p:nvSpPr>
          <p:cNvPr id="9" name="Caption 1"/>
          <p:cNvSpPr txBox="1"/>
          <p:nvPr/>
        </p:nvSpPr>
        <p:spPr>
          <a:xfrm>
            <a:off x="6908800" y="4635500"/>
            <a:ext cx="2159000" cy="254000"/>
          </a:xfrm>
          <a:prstGeom prst="rect">
            <a:avLst/>
          </a:prstGeom>
          <a:noFill/>
          <a:ln/>
        </p:spPr>
        <p:txBody>
          <a:bodyPr wrap="square" lIns="0" tIns="0" rIns="0" bIns="0" rtlCol="0" anchor="t"/>
          <a:lstStyle/>
          <a:p>
            <a:pPr indent="0" marL="0">
              <a:buNone/>
            </a:pPr>
            <a:r>
              <a:rPr lang="en-US" sz="1200" dirty="0">
                <a:solidFill>
                  <a:schemeClr val="accent5"/>
                </a:solidFill>
              </a:rPr>
              <a:t>On site in Tenganan village</a:t>
            </a:r>
            <a:endParaRPr lang="en-US" sz="1200" dirty="0"/>
          </a:p>
        </p:txBody>
      </p:sp>
      <p:sp>
        <p:nvSpPr>
          <p:cNvPr id="10" name="Caption 2"/>
          <p:cNvSpPr txBox="1"/>
          <p:nvPr/>
        </p:nvSpPr>
        <p:spPr>
          <a:xfrm>
            <a:off x="9220200" y="4635500"/>
            <a:ext cx="2159000" cy="254000"/>
          </a:xfrm>
          <a:prstGeom prst="rect">
            <a:avLst/>
          </a:prstGeom>
          <a:noFill/>
          <a:ln/>
        </p:spPr>
        <p:txBody>
          <a:bodyPr wrap="square" lIns="0" tIns="0" rIns="0" bIns="0" rtlCol="0" anchor="t"/>
          <a:lstStyle/>
          <a:p>
            <a:pPr indent="0" marL="0">
              <a:buNone/>
            </a:pPr>
            <a:r>
              <a:rPr lang="en-US" sz="1200" dirty="0">
                <a:solidFill>
                  <a:schemeClr val="accent5"/>
                </a:solidFill>
              </a:rPr>
              <a:t>Co-organizer, international conference</a:t>
            </a:r>
            <a:endParaRPr lang="en-US" sz="1200" dirty="0"/>
          </a:p>
        </p:txBody>
      </p:sp>
      <p:sp>
        <p:nvSpPr>
          <p:cNvPr id="11" name="Also built"/>
          <p:cNvSpPr txBox="1"/>
          <p:nvPr/>
        </p:nvSpPr>
        <p:spPr>
          <a:xfrm>
            <a:off x="6908800" y="5207000"/>
            <a:ext cx="4470400" cy="508000"/>
          </a:xfrm>
          <a:prstGeom prst="rect">
            <a:avLst/>
          </a:prstGeom>
          <a:noFill/>
          <a:ln/>
        </p:spPr>
        <p:txBody>
          <a:bodyPr wrap="square" lIns="0" tIns="0" rIns="0" bIns="0" rtlCol="0" anchor="t"/>
          <a:lstStyle/>
          <a:p>
            <a:pPr indent="0" marL="0">
              <a:buNone/>
            </a:pPr>
            <a:r>
              <a:rPr lang="en-US" sz="1300" dirty="0">
                <a:solidFill>
                  <a:schemeClr val="bg2"/>
                </a:solidFill>
              </a:rPr>
              <a:t>Also built: PHYLING balsa structure  ·  Qingfen canteen seating-map prototype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CDD"/>
        </a:solidFill>
      </p:bgPr>
    </p:bg>
    <p:spTree>
      <p:nvGrpSpPr>
        <p:cNvPr id="1" name=""/>
        <p:cNvGrpSpPr/>
        <p:nvPr/>
      </p:nvGrpSpPr>
      <p:grpSpPr>
        <a:xfrm>
          <a:off x="0" y="0"/>
          <a:ext cx="0" cy="0"/>
          <a:chOff x="0" y="0"/>
          <a:chExt cx="0" cy="0"/>
        </a:xfrm>
      </p:grpSpPr>
      <p:sp>
        <p:nvSpPr>
          <p:cNvPr id="2" name="Eyebrow"/>
          <p:cNvSpPr txBox="1"/>
          <p:nvPr/>
        </p:nvSpPr>
        <p:spPr>
          <a:xfrm>
            <a:off x="812800" y="698500"/>
            <a:ext cx="5715000" cy="228600"/>
          </a:xfrm>
          <a:prstGeom prst="rect">
            <a:avLst/>
          </a:prstGeom>
          <a:noFill/>
          <a:ln/>
        </p:spPr>
        <p:txBody>
          <a:bodyPr wrap="square" lIns="0" tIns="0" rIns="0" bIns="0" rtlCol="0" anchor="t"/>
          <a:lstStyle/>
          <a:p>
            <a:pPr indent="0" marL="0">
              <a:buNone/>
            </a:pPr>
            <a:r>
              <a:rPr lang="en-US" sz="1200" b="1" spc="400" kern="0" dirty="0">
                <a:solidFill>
                  <a:schemeClr val="tx2"/>
                </a:solidFill>
              </a:rPr>
              <a:t>04  ·  SERVE</a:t>
            </a:r>
            <a:endParaRPr lang="en-US" sz="1200" dirty="0"/>
          </a:p>
        </p:txBody>
      </p:sp>
      <p:sp>
        <p:nvSpPr>
          <p:cNvPr id="3" name="Title"/>
          <p:cNvSpPr txBox="1"/>
          <p:nvPr/>
        </p:nvSpPr>
        <p:spPr>
          <a:xfrm>
            <a:off x="812800" y="977900"/>
            <a:ext cx="9525000" cy="635000"/>
          </a:xfrm>
          <a:prstGeom prst="rect">
            <a:avLst/>
          </a:prstGeom>
          <a:noFill/>
          <a:ln/>
        </p:spPr>
        <p:txBody>
          <a:bodyPr wrap="square" lIns="0" tIns="0" rIns="0" bIns="0" rtlCol="0" anchor="t"/>
          <a:lstStyle/>
          <a:p>
            <a:pPr indent="0" marL="0">
              <a:buNone/>
            </a:pPr>
            <a:r>
              <a:rPr lang="en-US" sz="4400" b="1" dirty="0">
                <a:solidFill>
                  <a:schemeClr val="tx1"/>
                </a:solidFill>
                <a:latin typeface="+mj-lt" pitchFamily="34" charset="0"/>
                <a:ea typeface="+mj-lt" pitchFamily="34" charset="-122"/>
                <a:cs typeface="+mj-lt" pitchFamily="34" charset="-120"/>
              </a:rPr>
              <a:t>Designing for Zijing</a:t>
            </a:r>
            <a:endParaRPr lang="en-US" sz="4400" dirty="0"/>
          </a:p>
        </p:txBody>
      </p:sp>
      <p:sp>
        <p:nvSpPr>
          <p:cNvPr id="4" name="Role pill"/>
          <p:cNvSpPr/>
          <p:nvPr/>
        </p:nvSpPr>
        <p:spPr>
          <a:xfrm>
            <a:off x="812800" y="1714500"/>
            <a:ext cx="5207000" cy="355600"/>
          </a:xfrm>
          <a:prstGeom prst="roundRect">
            <a:avLst>
              <a:gd name="adj" fmla="val 41143"/>
            </a:avLst>
          </a:prstGeom>
          <a:solidFill>
            <a:srgbClr val="8B4A1F">
              <a:alpha val="92000"/>
            </a:srgbClr>
          </a:solidFill>
          <a:ln/>
        </p:spPr>
        <p:txBody>
          <a:bodyPr wrap="square" lIns="114300" tIns="114300" rIns="114300" bIns="114300" rtlCol="0" anchor="ctr"/>
          <a:lstStyle/>
          <a:p>
            <a:pPr algn="l" indent="0" marL="0">
              <a:buNone/>
            </a:pPr>
            <a:r>
              <a:rPr lang="en-US" sz="1200" dirty="0">
                <a:solidFill>
                  <a:schemeClr val="bg1"/>
                </a:solidFill>
              </a:rPr>
              <a:t>Student Association · Sci-Tech Admin &amp; Design team, 2025–present</a:t>
            </a:r>
            <a:endParaRPr lang="en-US" sz="1200" dirty="0"/>
          </a:p>
        </p:txBody>
      </p:sp>
      <p:sp>
        <p:nvSpPr>
          <p:cNvPr id="5" name="Garuda pill"/>
          <p:cNvSpPr/>
          <p:nvPr/>
        </p:nvSpPr>
        <p:spPr>
          <a:xfrm>
            <a:off x="6172200" y="1714500"/>
            <a:ext cx="3810000" cy="355600"/>
          </a:xfrm>
          <a:prstGeom prst="roundRect">
            <a:avLst>
              <a:gd name="adj" fmla="val 41143"/>
            </a:avLst>
          </a:prstGeom>
          <a:solidFill>
            <a:srgbClr val="8B4A1F">
              <a:alpha val="92000"/>
            </a:srgbClr>
          </a:solidFill>
          <a:ln/>
        </p:spPr>
        <p:txBody>
          <a:bodyPr wrap="square" lIns="114300" tIns="114300" rIns="114300" bIns="114300" rtlCol="0" anchor="ctr"/>
          <a:lstStyle/>
          <a:p>
            <a:pPr algn="l" indent="0" marL="0">
              <a:buNone/>
            </a:pPr>
            <a:r>
              <a:rPr lang="en-US" sz="1200" dirty="0">
                <a:solidFill>
                  <a:schemeClr val="bg1"/>
                </a:solidFill>
              </a:rPr>
              <a:t>First point of contact for 14 Garuda scholars</a:t>
            </a:r>
            <a:endParaRPr lang="en-US" sz="1200" dirty="0"/>
          </a:p>
        </p:txBody>
      </p:sp>
      <p:pic>
        <p:nvPicPr>
          <p:cNvPr id="6" name="Magazine" descr="Cover of the Uzbekistan deep-dive magazine designed by Rafi">    </p:cNvPr>
          <p:cNvPicPr>
            <a:picLocks noChangeAspect="1"/>
          </p:cNvPicPr>
          <p:nvPr/>
        </p:nvPicPr>
        <p:blipFill>
          <a:blip r:embed="rId1"/>
          <a:stretch>
            <a:fillRect/>
          </a:stretch>
        </p:blipFill>
        <p:spPr>
          <a:xfrm>
            <a:off x="812800" y="2286000"/>
            <a:ext cx="2159000" cy="3048000"/>
          </a:xfrm>
          <a:prstGeom prst="rect">
            <a:avLst/>
          </a:prstGeom>
        </p:spPr>
      </p:pic>
      <p:pic>
        <p:nvPicPr>
          <p:cNvPr id="7" name="Steamy" descr="Steamy, the Zijing mascot, on stage at its launch">    </p:cNvPr>
          <p:cNvPicPr>
            <a:picLocks noChangeAspect="1"/>
          </p:cNvPicPr>
          <p:nvPr/>
        </p:nvPicPr>
        <p:blipFill>
          <a:blip r:embed="rId2"/>
          <a:stretch>
            <a:fillRect/>
          </a:stretch>
        </p:blipFill>
        <p:spPr>
          <a:xfrm>
            <a:off x="3124200" y="2286000"/>
            <a:ext cx="4191000" cy="3048000"/>
          </a:xfrm>
          <a:prstGeom prst="rect">
            <a:avLst/>
          </a:prstGeom>
        </p:spPr>
      </p:pic>
      <p:pic>
        <p:nvPicPr>
          <p:cNvPr id="8" name="Samarkand" descr="Meeting at Silk Road University in Samarkand during the Uzbekistan practice">    </p:cNvPr>
          <p:cNvPicPr>
            <a:picLocks noChangeAspect="1"/>
          </p:cNvPicPr>
          <p:nvPr/>
        </p:nvPicPr>
        <p:blipFill>
          <a:blip r:embed="rId3"/>
          <a:stretch>
            <a:fillRect/>
          </a:stretch>
        </p:blipFill>
        <p:spPr>
          <a:xfrm>
            <a:off x="7467600" y="2286000"/>
            <a:ext cx="3911600" cy="3048000"/>
          </a:xfrm>
          <a:prstGeom prst="rect">
            <a:avLst/>
          </a:prstGeom>
        </p:spPr>
      </p:pic>
      <p:sp>
        <p:nvSpPr>
          <p:cNvPr id="9" name="Caption 1"/>
          <p:cNvSpPr txBox="1"/>
          <p:nvPr/>
        </p:nvSpPr>
        <p:spPr>
          <a:xfrm>
            <a:off x="812800" y="5448300"/>
            <a:ext cx="2159000" cy="508000"/>
          </a:xfrm>
          <a:prstGeom prst="rect">
            <a:avLst/>
          </a:prstGeom>
          <a:noFill/>
          <a:ln/>
        </p:spPr>
        <p:txBody>
          <a:bodyPr wrap="square" lIns="0" tIns="0" rIns="0" bIns="0" rtlCol="0" anchor="t"/>
          <a:lstStyle/>
          <a:p>
            <a:pPr indent="0" marL="0">
              <a:buNone/>
            </a:pPr>
            <a:r>
              <a:rPr lang="en-US" sz="1200" dirty="0">
                <a:solidFill>
                  <a:schemeClr val="tx2"/>
                </a:solidFill>
              </a:rPr>
              <a:t>Uzbekistan deep dive: main designer, WeChat series + magazine</a:t>
            </a:r>
            <a:endParaRPr lang="en-US" sz="1200" dirty="0"/>
          </a:p>
        </p:txBody>
      </p:sp>
      <p:sp>
        <p:nvSpPr>
          <p:cNvPr id="10" name="Caption 2"/>
          <p:cNvSpPr txBox="1"/>
          <p:nvPr/>
        </p:nvSpPr>
        <p:spPr>
          <a:xfrm>
            <a:off x="3124200" y="5448300"/>
            <a:ext cx="4191000" cy="254000"/>
          </a:xfrm>
          <a:prstGeom prst="rect">
            <a:avLst/>
          </a:prstGeom>
          <a:noFill/>
          <a:ln/>
        </p:spPr>
        <p:txBody>
          <a:bodyPr wrap="square" lIns="0" tIns="0" rIns="0" bIns="0" rtlCol="0" anchor="t"/>
          <a:lstStyle/>
          <a:p>
            <a:pPr indent="0" marL="0">
              <a:buNone/>
            </a:pPr>
            <a:r>
              <a:rPr lang="en-US" sz="1200" dirty="0">
                <a:solidFill>
                  <a:schemeClr val="tx2"/>
                </a:solidFill>
              </a:rPr>
              <a:t>Steamy, Zijing's mascot  ·  1st place design</a:t>
            </a:r>
            <a:endParaRPr lang="en-US" sz="1200" dirty="0"/>
          </a:p>
        </p:txBody>
      </p:sp>
      <p:sp>
        <p:nvSpPr>
          <p:cNvPr id="11" name="Caption 3"/>
          <p:cNvSpPr txBox="1"/>
          <p:nvPr/>
        </p:nvSpPr>
        <p:spPr>
          <a:xfrm>
            <a:off x="7467600" y="5448300"/>
            <a:ext cx="3911600" cy="254000"/>
          </a:xfrm>
          <a:prstGeom prst="rect">
            <a:avLst/>
          </a:prstGeom>
          <a:noFill/>
          <a:ln/>
        </p:spPr>
        <p:txBody>
          <a:bodyPr wrap="square" lIns="0" tIns="0" rIns="0" bIns="0" rtlCol="0" anchor="t"/>
          <a:lstStyle/>
          <a:p>
            <a:pPr indent="0" marL="0">
              <a:buNone/>
            </a:pPr>
            <a:r>
              <a:rPr lang="en-US" sz="1200" dirty="0">
                <a:solidFill>
                  <a:schemeClr val="tx2"/>
                </a:solidFill>
              </a:rPr>
              <a:t>Practice: Uzbekistan  ·  Guangzhou (team A)  ·  Tenganan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410"/>
        </a:solidFill>
      </p:bgPr>
    </p:bg>
    <p:spTree>
      <p:nvGrpSpPr>
        <p:cNvPr id="1" name=""/>
        <p:cNvGrpSpPr/>
        <p:nvPr/>
      </p:nvGrpSpPr>
      <p:grpSpPr>
        <a:xfrm>
          <a:off x="0" y="0"/>
          <a:ext cx="0" cy="0"/>
          <a:chOff x="0" y="0"/>
          <a:chExt cx="0" cy="0"/>
        </a:xfrm>
      </p:grpSpPr>
      <p:pic>
        <p:nvPicPr>
          <p:cNvPr id="2" name="One photo" descr="Rafi singing Zijing's theme song One on stage at the Student Festival">    </p:cNvPr>
          <p:cNvPicPr>
            <a:picLocks noChangeAspect="1"/>
          </p:cNvPicPr>
          <p:nvPr/>
        </p:nvPicPr>
        <p:blipFill>
          <a:blip r:embed="rId1"/>
          <a:stretch>
            <a:fillRect/>
          </a:stretch>
        </p:blipFill>
        <p:spPr>
          <a:xfrm>
            <a:off x="0" y="0"/>
            <a:ext cx="7874000" cy="6858000"/>
          </a:xfrm>
          <a:prstGeom prst="rect">
            <a:avLst/>
          </a:prstGeom>
        </p:spPr>
      </p:pic>
      <p:pic>
        <p:nvPicPr>
          <p:cNvPr id="3" name="Scrim" descr="Decorative shading over photo">    </p:cNvPr>
          <p:cNvPicPr>
            <a:picLocks noChangeAspect="1"/>
          </p:cNvPicPr>
          <p:nvPr/>
        </p:nvPicPr>
        <p:blipFill>
          <a:blip r:embed="rId2"/>
          <a:stretch>
            <a:fillRect/>
          </a:stretch>
        </p:blipFill>
        <p:spPr>
          <a:xfrm>
            <a:off x="0" y="0"/>
            <a:ext cx="7874000" cy="6858000"/>
          </a:xfrm>
          <a:prstGeom prst="rect">
            <a:avLst/>
          </a:prstGeom>
        </p:spPr>
      </p:pic>
      <p:pic>
        <p:nvPicPr>
          <p:cNvPr id="4" name="C:RUSH photo" descr="C:RUSH K-pop dance set at the Student Festival">    </p:cNvPr>
          <p:cNvPicPr>
            <a:picLocks noChangeAspect="1"/>
          </p:cNvPicPr>
          <p:nvPr/>
        </p:nvPicPr>
        <p:blipFill>
          <a:blip r:embed="rId3"/>
          <a:stretch>
            <a:fillRect/>
          </a:stretch>
        </p:blipFill>
        <p:spPr>
          <a:xfrm>
            <a:off x="7950200" y="0"/>
            <a:ext cx="4241800" cy="2235200"/>
          </a:xfrm>
          <a:prstGeom prst="rect">
            <a:avLst/>
          </a:prstGeom>
        </p:spPr>
      </p:pic>
      <p:pic>
        <p:nvPicPr>
          <p:cNvPr id="5" name="Chinese dance photo" descr="Chinese-song dance at the Student Festival">    </p:cNvPr>
          <p:cNvPicPr>
            <a:picLocks noChangeAspect="1"/>
          </p:cNvPicPr>
          <p:nvPr/>
        </p:nvPicPr>
        <p:blipFill>
          <a:blip r:embed="rId4"/>
          <a:stretch>
            <a:fillRect/>
          </a:stretch>
        </p:blipFill>
        <p:spPr>
          <a:xfrm>
            <a:off x="7950200" y="2311400"/>
            <a:ext cx="4241800" cy="2235200"/>
          </a:xfrm>
          <a:prstGeom prst="rect">
            <a:avLst/>
          </a:prstGeom>
        </p:spPr>
      </p:pic>
      <p:pic>
        <p:nvPicPr>
          <p:cNvPr id="6" name="Ma Cup photo" descr="Ma Cup cheer team in the gym">    </p:cNvPr>
          <p:cNvPicPr>
            <a:picLocks noChangeAspect="1"/>
          </p:cNvPicPr>
          <p:nvPr/>
        </p:nvPicPr>
        <p:blipFill>
          <a:blip r:embed="rId5"/>
          <a:stretch>
            <a:fillRect/>
          </a:stretch>
        </p:blipFill>
        <p:spPr>
          <a:xfrm>
            <a:off x="7950200" y="4622800"/>
            <a:ext cx="4241800" cy="2235200"/>
          </a:xfrm>
          <a:prstGeom prst="rect">
            <a:avLst/>
          </a:prstGeom>
        </p:spPr>
      </p:pic>
      <p:sp>
        <p:nvSpPr>
          <p:cNvPr id="7" name="Pill 1"/>
          <p:cNvSpPr/>
          <p:nvPr/>
        </p:nvSpPr>
        <p:spPr>
          <a:xfrm>
            <a:off x="8102600" y="152400"/>
            <a:ext cx="2413000" cy="355600"/>
          </a:xfrm>
          <a:prstGeom prst="roundRect">
            <a:avLst>
              <a:gd name="adj" fmla="val 41143"/>
            </a:avLst>
          </a:prstGeom>
          <a:solidFill>
            <a:srgbClr val="1A1410">
              <a:alpha val="92000"/>
            </a:srgbClr>
          </a:solidFill>
          <a:ln/>
        </p:spPr>
        <p:txBody>
          <a:bodyPr wrap="square" lIns="114300" tIns="114300" rIns="114300" bIns="114300" rtlCol="0" anchor="ctr"/>
          <a:lstStyle/>
          <a:p>
            <a:pPr algn="l" indent="0" marL="0">
              <a:buNone/>
            </a:pPr>
            <a:r>
              <a:rPr lang="en-US" sz="1200" dirty="0">
                <a:solidFill>
                  <a:schemeClr val="bg1"/>
                </a:solidFill>
              </a:rPr>
              <a:t>C:RUSH K-pop set  ·  coordinator</a:t>
            </a:r>
            <a:endParaRPr lang="en-US" sz="1200" dirty="0"/>
          </a:p>
        </p:txBody>
      </p:sp>
      <p:sp>
        <p:nvSpPr>
          <p:cNvPr id="8" name="Pill 2"/>
          <p:cNvSpPr/>
          <p:nvPr/>
        </p:nvSpPr>
        <p:spPr>
          <a:xfrm>
            <a:off x="8102600" y="2463800"/>
            <a:ext cx="2794000" cy="355600"/>
          </a:xfrm>
          <a:prstGeom prst="roundRect">
            <a:avLst>
              <a:gd name="adj" fmla="val 41143"/>
            </a:avLst>
          </a:prstGeom>
          <a:solidFill>
            <a:srgbClr val="1A1410">
              <a:alpha val="92000"/>
            </a:srgbClr>
          </a:solidFill>
          <a:ln/>
        </p:spPr>
        <p:txBody>
          <a:bodyPr wrap="square" lIns="114300" tIns="114300" rIns="114300" bIns="114300" rtlCol="0" anchor="ctr"/>
          <a:lstStyle/>
          <a:p>
            <a:pPr algn="l" indent="0" marL="0">
              <a:buNone/>
            </a:pPr>
            <a:r>
              <a:rPr lang="en-US" sz="1200" dirty="0">
                <a:solidFill>
                  <a:schemeClr val="bg1"/>
                </a:solidFill>
              </a:rPr>
              <a:t>Chinese-song dance  ·  Student Festival</a:t>
            </a:r>
            <a:endParaRPr lang="en-US" sz="1200" dirty="0"/>
          </a:p>
        </p:txBody>
      </p:sp>
      <p:sp>
        <p:nvSpPr>
          <p:cNvPr id="9" name="Pill 3"/>
          <p:cNvSpPr/>
          <p:nvPr/>
        </p:nvSpPr>
        <p:spPr>
          <a:xfrm>
            <a:off x="8102600" y="4775200"/>
            <a:ext cx="3429000" cy="355600"/>
          </a:xfrm>
          <a:prstGeom prst="roundRect">
            <a:avLst>
              <a:gd name="adj" fmla="val 41143"/>
            </a:avLst>
          </a:prstGeom>
          <a:solidFill>
            <a:srgbClr val="1A1410">
              <a:alpha val="92000"/>
            </a:srgbClr>
          </a:solidFill>
          <a:ln/>
        </p:spPr>
        <p:txBody>
          <a:bodyPr wrap="square" lIns="114300" tIns="114300" rIns="114300" bIns="114300" rtlCol="0" anchor="ctr"/>
          <a:lstStyle/>
          <a:p>
            <a:pPr algn="l" indent="0" marL="0">
              <a:buNone/>
            </a:pPr>
            <a:r>
              <a:rPr lang="en-US" sz="1200" dirty="0">
                <a:solidFill>
                  <a:schemeClr val="bg1"/>
                </a:solidFill>
              </a:rPr>
              <a:t>Ma Cup cheer  ·  5th place + Sportsmanship Award</a:t>
            </a:r>
            <a:endParaRPr lang="en-US" sz="1200" dirty="0"/>
          </a:p>
        </p:txBody>
      </p:sp>
      <p:sp>
        <p:nvSpPr>
          <p:cNvPr id="10" name="Eyebrow"/>
          <p:cNvSpPr txBox="1"/>
          <p:nvPr/>
        </p:nvSpPr>
        <p:spPr>
          <a:xfrm>
            <a:off x="812800" y="4127500"/>
            <a:ext cx="5715000" cy="228600"/>
          </a:xfrm>
          <a:prstGeom prst="rect">
            <a:avLst/>
          </a:prstGeom>
          <a:noFill/>
          <a:ln/>
        </p:spPr>
        <p:txBody>
          <a:bodyPr wrap="square" lIns="0" tIns="0" rIns="0" bIns="0" rtlCol="0" anchor="t"/>
          <a:lstStyle/>
          <a:p>
            <a:pPr indent="0" marL="0">
              <a:buNone/>
            </a:pPr>
            <a:r>
              <a:rPr lang="en-US" sz="1200" b="1" spc="400" kern="0" dirty="0">
                <a:solidFill>
                  <a:schemeClr val="accent1"/>
                </a:solidFill>
              </a:rPr>
              <a:t>05  ·  PERFORM</a:t>
            </a:r>
            <a:endParaRPr lang="en-US" sz="1200" dirty="0"/>
          </a:p>
        </p:txBody>
      </p:sp>
      <p:sp>
        <p:nvSpPr>
          <p:cNvPr id="11" name="Title"/>
          <p:cNvSpPr txBox="1"/>
          <p:nvPr/>
        </p:nvSpPr>
        <p:spPr>
          <a:xfrm>
            <a:off x="812800" y="4419600"/>
            <a:ext cx="6667500" cy="1206500"/>
          </a:xfrm>
          <a:prstGeom prst="rect">
            <a:avLst/>
          </a:prstGeom>
          <a:noFill/>
          <a:ln/>
        </p:spPr>
        <p:txBody>
          <a:bodyPr wrap="square" lIns="0" tIns="0" rIns="0" bIns="0" rtlCol="0" anchor="t"/>
          <a:lstStyle/>
          <a:p>
            <a:pPr indent="0" marL="0">
              <a:lnSpc>
                <a:spcPct val="95000"/>
              </a:lnSpc>
              <a:buNone/>
            </a:pPr>
            <a:r>
              <a:rPr lang="en-US" sz="4000" b="1" dirty="0">
                <a:solidFill>
                  <a:schemeClr val="bg1"/>
                </a:solidFill>
                <a:latin typeface="+mj-lt" pitchFamily="34" charset="0"/>
                <a:ea typeface="+mj-lt" pitchFamily="34" charset="-122"/>
                <a:cs typeface="+mj-lt" pitchFamily="34" charset="-120"/>
              </a:rPr>
              <a:t>Zijing's first theme song: “One”</a:t>
            </a:r>
            <a:endParaRPr lang="en-US" sz="4000" dirty="0"/>
          </a:p>
        </p:txBody>
      </p:sp>
      <p:sp>
        <p:nvSpPr>
          <p:cNvPr id="12" name="Body"/>
          <p:cNvSpPr txBox="1"/>
          <p:nvPr/>
        </p:nvSpPr>
        <p:spPr>
          <a:xfrm>
            <a:off x="812800" y="5689600"/>
            <a:ext cx="6667500" cy="279400"/>
          </a:xfrm>
          <a:prstGeom prst="rect">
            <a:avLst/>
          </a:prstGeom>
          <a:noFill/>
          <a:ln/>
        </p:spPr>
        <p:txBody>
          <a:bodyPr wrap="square" lIns="0" tIns="0" rIns="0" bIns="0" rtlCol="0" anchor="t"/>
          <a:lstStyle/>
          <a:p>
            <a:pPr indent="0" marL="0">
              <a:buNone/>
            </a:pPr>
            <a:r>
              <a:rPr lang="en-US" sz="1600" dirty="0">
                <a:solidFill>
                  <a:schemeClr val="accent4"/>
                </a:solidFill>
              </a:rPr>
              <a:t>Lyrics &amp; lead vocals  ·  Student Festival, 23 May 2026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410"/>
        </a:solidFill>
      </p:bgPr>
    </p:bg>
    <p:spTree>
      <p:nvGrpSpPr>
        <p:cNvPr id="1" name=""/>
        <p:cNvGrpSpPr/>
        <p:nvPr/>
      </p:nvGrpSpPr>
      <p:grpSpPr>
        <a:xfrm>
          <a:off x="0" y="0"/>
          <a:ext cx="0" cy="0"/>
          <a:chOff x="0" y="0"/>
          <a:chExt cx="0" cy="0"/>
        </a:xfrm>
      </p:grpSpPr>
      <p:pic>
        <p:nvPicPr>
          <p:cNvPr id="2" name="Close photo" descr="Mid-Autumn party at Zijing under a banner reading Warming hearts, Zijing family, Never apart">    </p:cNvPr>
          <p:cNvPicPr>
            <a:picLocks noChangeAspect="1"/>
          </p:cNvPicPr>
          <p:nvPr/>
        </p:nvPicPr>
        <p:blipFill>
          <a:blip r:embed="rId1"/>
          <a:stretch>
            <a:fillRect/>
          </a:stretch>
        </p:blipFill>
        <p:spPr>
          <a:xfrm>
            <a:off x="0" y="0"/>
            <a:ext cx="12192000" cy="6858000"/>
          </a:xfrm>
          <a:prstGeom prst="rect">
            <a:avLst/>
          </a:prstGeom>
        </p:spPr>
      </p:pic>
      <p:pic>
        <p:nvPicPr>
          <p:cNvPr id="3" name="Scrim" descr="Decorative shading over photo">    </p:cNvPr>
          <p:cNvPicPr>
            <a:picLocks noChangeAspect="1"/>
          </p:cNvPicPr>
          <p:nvPr/>
        </p:nvPicPr>
        <p:blipFill>
          <a:blip r:embed="rId2"/>
          <a:stretch>
            <a:fillRect/>
          </a:stretch>
        </p:blipFill>
        <p:spPr>
          <a:xfrm>
            <a:off x="0" y="0"/>
            <a:ext cx="12192000" cy="6858000"/>
          </a:xfrm>
          <a:prstGeom prst="rect">
            <a:avLst/>
          </a:prstGeom>
        </p:spPr>
      </p:pic>
      <p:pic>
        <p:nvPicPr>
          <p:cNvPr id="4" name="Kawung batik border" descr="Decorative kawung batik border">    </p:cNvPr>
          <p:cNvPicPr>
            <a:picLocks noChangeAspect="1"/>
          </p:cNvPicPr>
          <p:nvPr/>
        </p:nvPicPr>
        <p:blipFill>
          <a:blip r:embed="rId3"/>
          <a:stretch>
            <a:fillRect/>
          </a:stretch>
        </p:blipFill>
        <p:spPr>
          <a:xfrm>
            <a:off x="0" y="0"/>
            <a:ext cx="609600" cy="6858000"/>
          </a:xfrm>
          <a:prstGeom prst="rect">
            <a:avLst/>
          </a:prstGeom>
        </p:spPr>
      </p:pic>
      <p:sp>
        <p:nvSpPr>
          <p:cNvPr id="5" name="Eyebrow"/>
          <p:cNvSpPr txBox="1"/>
          <p:nvPr/>
        </p:nvSpPr>
        <p:spPr>
          <a:xfrm>
            <a:off x="1371600" y="1498600"/>
            <a:ext cx="5715000" cy="228600"/>
          </a:xfrm>
          <a:prstGeom prst="rect">
            <a:avLst/>
          </a:prstGeom>
          <a:noFill/>
          <a:ln/>
        </p:spPr>
        <p:txBody>
          <a:bodyPr wrap="square" lIns="0" tIns="0" rIns="0" bIns="0" rtlCol="0" anchor="t"/>
          <a:lstStyle/>
          <a:p>
            <a:pPr indent="0" marL="0">
              <a:buNone/>
            </a:pPr>
            <a:r>
              <a:rPr lang="en-US" sz="1200" b="1" spc="400" kern="0" dirty="0">
                <a:solidFill>
                  <a:schemeClr val="accent1"/>
                </a:solidFill>
              </a:rPr>
              <a:t>06  ·  NEXT</a:t>
            </a:r>
            <a:endParaRPr lang="en-US" sz="1200" dirty="0"/>
          </a:p>
        </p:txBody>
      </p:sp>
      <p:sp>
        <p:nvSpPr>
          <p:cNvPr id="6" name="Title"/>
          <p:cNvSpPr txBox="1"/>
          <p:nvPr/>
        </p:nvSpPr>
        <p:spPr>
          <a:xfrm>
            <a:off x="1371600" y="1790700"/>
            <a:ext cx="5461000" cy="1905000"/>
          </a:xfrm>
          <a:prstGeom prst="rect">
            <a:avLst/>
          </a:prstGeom>
          <a:noFill/>
          <a:ln/>
        </p:spPr>
        <p:txBody>
          <a:bodyPr wrap="square" lIns="0" tIns="0" rIns="0" bIns="0" rtlCol="0" anchor="t"/>
          <a:lstStyle/>
          <a:p>
            <a:pPr indent="0" marL="0">
              <a:lnSpc>
                <a:spcPct val="95000"/>
              </a:lnSpc>
              <a:buNone/>
            </a:pPr>
            <a:r>
              <a:rPr lang="en-US" sz="4400" b="1" dirty="0">
                <a:solidFill>
                  <a:schemeClr val="bg1"/>
                </a:solidFill>
                <a:latin typeface="+mj-lt" pitchFamily="34" charset="0"/>
                <a:ea typeface="+mj-lt" pitchFamily="34" charset="-122"/>
                <a:cs typeface="+mj-lt" pitchFamily="34" charset="-120"/>
              </a:rPr>
              <a:t>Keep building bridges for Zijing</a:t>
            </a:r>
            <a:endParaRPr lang="en-US" sz="4400" dirty="0"/>
          </a:p>
        </p:txBody>
      </p:sp>
      <p:sp>
        <p:nvSpPr>
          <p:cNvPr id="7" name="Next steps"/>
          <p:cNvSpPr txBox="1"/>
          <p:nvPr/>
        </p:nvSpPr>
        <p:spPr>
          <a:xfrm>
            <a:off x="1371600" y="3873500"/>
            <a:ext cx="5207000" cy="12065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accent4"/>
                </a:solidFill>
              </a:rPr>
              <a:t>Publish the Uzbekistan deep-dive magazine</a:t>
            </a:r>
            <a:endParaRPr lang="en-US" sz="1800" dirty="0"/>
          </a:p>
          <a:p>
            <a:pPr marL="342900" indent="-342900">
              <a:spcAft>
                <a:spcPts val="800"/>
              </a:spcAft>
              <a:buSzPct val="100000"/>
              <a:buChar char="•"/>
            </a:pPr>
            <a:r>
              <a:rPr lang="en-US" sz="1800" dirty="0">
                <a:solidFill>
                  <a:schemeClr val="accent4"/>
                </a:solidFill>
              </a:rPr>
              <a:t>Keep guiding new Garuda scholars</a:t>
            </a:r>
            <a:endParaRPr lang="en-US" sz="1800" dirty="0"/>
          </a:p>
          <a:p>
            <a:pPr marL="342900" indent="-342900">
              <a:spcAft>
                <a:spcPts val="800"/>
              </a:spcAft>
              <a:buSzPct val="100000"/>
              <a:buChar char="•"/>
            </a:pPr>
            <a:r>
              <a:rPr lang="en-US" sz="1800" dirty="0">
                <a:solidFill>
                  <a:schemeClr val="accent4"/>
                </a:solidFill>
              </a:rPr>
              <a:t>Keep bringing Zijing to the stage</a:t>
            </a:r>
            <a:endParaRPr lang="en-US" sz="1800" dirty="0"/>
          </a:p>
        </p:txBody>
      </p:sp>
      <p:sp>
        <p:nvSpPr>
          <p:cNvPr id="8" name="Thanks"/>
          <p:cNvSpPr txBox="1"/>
          <p:nvPr/>
        </p:nvSpPr>
        <p:spPr>
          <a:xfrm>
            <a:off x="1371600" y="5372100"/>
            <a:ext cx="5461000" cy="44450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Terima kasih  ·  Thank you</a:t>
            </a:r>
            <a:endParaRPr lang="en-US" sz="2800" dirty="0"/>
          </a:p>
        </p:txBody>
      </p:sp>
    </p:spTree>
  </p:cSld>
  <p:clrMapOvr>
    <a:masterClrMapping/>
  </p:clrMapOvr>
</p:sld>
</file>

<file path=ppt/theme/theme1.xml><?xml version="1.0" encoding="utf-8"?>
<a:theme xmlns:a="http://schemas.openxmlformats.org/drawingml/2006/main" name="Sogan Batik">
  <a:themeElements>
    <a:clrScheme name="Sogan Batik">
      <a:dk1>
        <a:srgbClr val="1A1410"/>
      </a:dk1>
      <a:lt1>
        <a:srgbClr val="F4ECDD"/>
      </a:lt1>
      <a:dk2>
        <a:srgbClr val="8B4A1F"/>
      </a:dk2>
      <a:lt2>
        <a:srgbClr val="F6DDA6"/>
      </a:lt2>
      <a:accent1>
        <a:srgbClr val="E2A63B"/>
      </a:accent1>
      <a:accent2>
        <a:srgbClr val="8B4A1F"/>
      </a:accent2>
      <a:accent3>
        <a:srgbClr val="B5651D"/>
      </a:accent3>
      <a:accent4>
        <a:srgbClr val="D9CBB3"/>
      </a:accent4>
      <a:accent5>
        <a:srgbClr val="BFAF95"/>
      </a:accent5>
      <a:accent6>
        <a:srgbClr val="2A1F17"/>
      </a:accent6>
      <a:hlink>
        <a:srgbClr val="E2A63B"/>
      </a:hlink>
      <a:folHlink>
        <a:srgbClr val="B5651D"/>
      </a:folHlink>
    </a:clrScheme>
    <a:fontScheme name="Sogan Bati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Scholarship Defense</dc:title>
  <dc:subject>PptxGenJS Presentation</dc:subject>
  <dc:creator>Rafi Adifa Maulana</dc:creator>
  <cp:lastModifiedBy>Rafi Adifa Maulana</cp:lastModifiedBy>
  <cp:revision>1</cp:revision>
  <dcterms:created xsi:type="dcterms:W3CDTF">2026-10-05T06:23:38Z</dcterms:created>
  <dcterms:modified xsi:type="dcterms:W3CDTF">2026-10-05T06:23:38Z</dcterms:modified>
</cp:coreProperties>
</file>